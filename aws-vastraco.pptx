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0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24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632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6177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005840"/>
            <a:ext cx="8138160" cy="2468880"/>
          </a:xfrm>
          <a:prstGeom prst="rect">
            <a:avLst/>
          </a:prstGeom>
          <a:solidFill>
            <a:srgbClr val="1A2744">
              <a:alpha val="85000"/>
            </a:srgbClr>
          </a:solidFill>
          <a:ln w="127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VastraCo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64008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Grade 3-Tier E-Commerce Architecture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Web Services (AWS)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HTTPS / TLS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2024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Multi-AZ HA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3756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Route53 DNS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ACM SSL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RDS PostgreSQL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3931920"/>
            <a:ext cx="1234440" cy="384048"/>
          </a:xfrm>
          <a:prstGeom prst="roundRect">
            <a:avLst/>
          </a:prstGeom>
          <a:solidFill>
            <a:srgbClr val="FF9900">
              <a:alpha val="25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39319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 Scaling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ID: vpc-00982eb886dd14616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813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069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Traditional arch pain points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72184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72184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7218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Solution Overview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764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3-tier AWS architecture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67128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6712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203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VPC &amp; Networking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459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Subnets, IGW, NAT, Multi-AZ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62072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62072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62072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Load Balancing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Public ALB + Internal ALB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5701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Path-Based Routing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849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/api/auth → /api/products → /api/orders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251960"/>
            <a:ext cx="4160520" cy="594360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51960"/>
            <a:ext cx="347472" cy="59436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5196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4288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Host-Based Routing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544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vastraco.online + api.vastraco.online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777240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777240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77724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813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SSL / ACM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069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TLS termination, wildcard cert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1472184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1472184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472184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Route53 &amp; DNS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1764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Hosted zones, DNS validation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167128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2167128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16712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2203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RDS PostgreSQL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57800" y="2459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Managed, private, multi-DB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2862072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2862072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2862072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Security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57800" y="3154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SG, bastion, least-privilege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3557016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46320" y="3557016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557016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5780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High Availability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57800" y="38496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Multi-AZ, auto scaling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46320" y="4251960"/>
            <a:ext cx="4160520" cy="594360"/>
          </a:xfrm>
          <a:prstGeom prst="rect">
            <a:avLst/>
          </a:prstGeom>
          <a:solidFill>
            <a:srgbClr val="FFF3E0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46320" y="4251960"/>
            <a:ext cx="347472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251960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257800" y="4288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Live Outputs &amp; Conclusion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57800" y="4544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Real screenshots &amp; summary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1783080"/>
          </a:xfrm>
          <a:prstGeom prst="rect">
            <a:avLst/>
          </a:prstGeom>
          <a:solidFill>
            <a:srgbClr val="1E2D3D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Scaling Nightmare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Traditional monoliths can't handle traffic spikes. Manual vertical scaling is slow, costly, and unreliable.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114800" cy="1783080"/>
          </a:xfrm>
          <a:prstGeom prst="rect">
            <a:avLst/>
          </a:prstGeom>
          <a:solidFill>
            <a:srgbClr val="1E2D3D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77240"/>
            <a:ext cx="41148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</a:rPr>
              <a:t>Poor Security Posture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435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Flat network topology exposes all services. No isolation between tiers. Databases publicly accessible.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14800" cy="1783080"/>
          </a:xfrm>
          <a:prstGeom prst="rect">
            <a:avLst/>
          </a:prstGeom>
          <a:solidFill>
            <a:srgbClr val="1E2D3D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43200"/>
            <a:ext cx="41148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Single Point of Failure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One AZ deployment means any hardware failure = complete outage. No redundancy, no failover.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743200"/>
            <a:ext cx="4114800" cy="1783080"/>
          </a:xfrm>
          <a:prstGeom prst="rect">
            <a:avLst/>
          </a:prstGeom>
          <a:solidFill>
            <a:srgbClr val="1E2D3D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743200"/>
            <a:ext cx="41148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</a:rPr>
              <a:t>Deployment Complexity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4015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Manual deployments, no SSL, no DNS management. HTTP-only traffic vulnerable to interception.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8346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83464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PRESENTATION TIER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React Frontend on EC2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Public Subnet | HTTPS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606040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ysDash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00"/>
                </a:solidFill>
              </a:rPr>
              <a:t>▸ HTTPS / SSL termination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00"/>
                </a:solidFill>
              </a:rPr>
              <a:t>▸ Public ALB routing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00"/>
                </a:solidFill>
              </a:rPr>
              <a:t>▸ Route53 DNS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8346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46E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822960"/>
            <a:ext cx="2834640" cy="50292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22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TIER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5196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2900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Node.js Microservices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Private Subnet | HTTP internal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06040"/>
            <a:ext cx="45720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ysDash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6EB4"/>
                </a:solidFill>
              </a:rPr>
              <a:t>▸ Path-based routing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6EB4"/>
                </a:solidFill>
              </a:rPr>
              <a:t>▸ Internal ALB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6EB4"/>
                </a:solidFill>
              </a:rPr>
              <a:t>▸ 3 microservices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822960"/>
            <a:ext cx="28346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822960"/>
            <a:ext cx="2834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822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2376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RDS 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02C"/>
                </a:solidFill>
              </a:rPr>
              <a:t>Private Isolated Subnet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</a:rPr>
              <a:t>▸ 3 separate databases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</a:rPr>
              <a:t>▸ Multi-AZ standby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</a:rPr>
              <a:t>▸ Encrypted at rest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 ID: vpc-00982eb886dd14616   |   Region: us-east-1   |   Domain: vastraco.online   |   SSL: *.vastraco.online (ACM Wildcard)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9C950-2167-14E4-C1EC-27BDD0A05F4F}"/>
              </a:ext>
            </a:extLst>
          </p:cNvPr>
          <p:cNvSpPr txBox="1"/>
          <p:nvPr/>
        </p:nvSpPr>
        <p:spPr>
          <a:xfrm>
            <a:off x="2286000" y="23870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57078-613E-02B8-8588-5F320CA1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7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VPC &amp; NETWORKING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657600" cy="713232"/>
          </a:xfrm>
          <a:prstGeom prst="rect">
            <a:avLst/>
          </a:prstGeom>
          <a:solidFill>
            <a:srgbClr val="1A2D4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758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VPC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24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vpc-00982eb886dd14616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Isolated virtual network, ap-south-1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3657600" cy="713232"/>
          </a:xfrm>
          <a:prstGeom prst="rect">
            <a:avLst/>
          </a:prstGeom>
          <a:solidFill>
            <a:srgbClr val="1A2D4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1581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Internet Gateway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47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igw-*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011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Entry point for public internet traffic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3657600" cy="713232"/>
          </a:xfrm>
          <a:prstGeom prst="rect">
            <a:avLst/>
          </a:prstGeom>
          <a:solidFill>
            <a:srgbClr val="1A2D40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6EB4"/>
                </a:solidFill>
              </a:rPr>
              <a:t>NAT Gateway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700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Subnet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834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Allows private EC2 outbound internet (no inbound)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3657600" cy="713232"/>
          </a:xfrm>
          <a:prstGeom prst="rect">
            <a:avLst/>
          </a:prstGeom>
          <a:solidFill>
            <a:srgbClr val="1A2D4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3227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Public Subnet (x2)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9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AZ-1a + AZ-1b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6576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ALB, Frontend EC2, Bastion, NAT GW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3657600" cy="713232"/>
          </a:xfrm>
          <a:prstGeom prst="rect">
            <a:avLst/>
          </a:prstGeom>
          <a:solidFill>
            <a:srgbClr val="1A2D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</a:rPr>
              <a:t>Private Subnet (x2)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315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AZ-1a + AZ-1b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4480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Backend EC2, RDS — no direct internet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640080"/>
            <a:ext cx="4663440" cy="42519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27AE6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315968" y="658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VPC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43400" y="914400"/>
            <a:ext cx="2103120" cy="379476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990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407408" y="9326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900"/>
                </a:solidFill>
              </a:rPr>
              <a:t>AZ-1a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37960" y="914400"/>
            <a:ext cx="2286000" cy="379476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46E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601968" y="9326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6EB4"/>
                </a:solidFill>
              </a:rPr>
              <a:t>AZ-1b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1188720"/>
            <a:ext cx="1874520" cy="731520"/>
          </a:xfrm>
          <a:prstGeom prst="rect">
            <a:avLst/>
          </a:prstGeom>
          <a:solidFill>
            <a:srgbClr val="1B4332">
              <a:alpha val="80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11887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Public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Subnet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01968" y="1188720"/>
            <a:ext cx="1874520" cy="731520"/>
          </a:xfrm>
          <a:prstGeom prst="rect">
            <a:avLst/>
          </a:prstGeom>
          <a:solidFill>
            <a:srgbClr val="1B4332">
              <a:alpha val="80000"/>
            </a:srgbClr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11887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Public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Subnet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640080"/>
            <a:ext cx="1280160" cy="320040"/>
          </a:xfrm>
          <a:prstGeom prst="ellipse">
            <a:avLst/>
          </a:prstGeom>
          <a:solidFill>
            <a:srgbClr val="0A3D1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640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IGW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07408" y="2057400"/>
            <a:ext cx="1874520" cy="731520"/>
          </a:xfrm>
          <a:prstGeom prst="rect">
            <a:avLst/>
          </a:prstGeom>
          <a:solidFill>
            <a:srgbClr val="1A1A4E">
              <a:alpha val="80000"/>
            </a:srgbClr>
          </a:solidFill>
          <a:ln w="10160">
            <a:solidFill>
              <a:srgbClr val="146E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9EDB"/>
                </a:solidFill>
              </a:rPr>
              <a:t>Private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9EDB"/>
                </a:solidFill>
              </a:rPr>
              <a:t>Subnet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01968" y="2057400"/>
            <a:ext cx="1874520" cy="731520"/>
          </a:xfrm>
          <a:prstGeom prst="rect">
            <a:avLst/>
          </a:prstGeom>
          <a:solidFill>
            <a:srgbClr val="1A1A4E">
              <a:alpha val="80000"/>
            </a:srgbClr>
          </a:solidFill>
          <a:ln w="10160">
            <a:solidFill>
              <a:srgbClr val="146E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20574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9EDB"/>
                </a:solidFill>
              </a:rPr>
              <a:t>Private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9EDB"/>
                </a:solidFill>
              </a:rPr>
              <a:t>Subnet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49240" y="2240280"/>
            <a:ext cx="0" cy="59436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ash"/>
            <a:tailEnd type="arrow"/>
          </a:ln>
        </p:spPr>
      </p:sp>
      <p:sp>
        <p:nvSpPr>
          <p:cNvPr id="46" name="Text 44"/>
          <p:cNvSpPr/>
          <p:nvPr/>
        </p:nvSpPr>
        <p:spPr>
          <a:xfrm>
            <a:off x="539496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9900"/>
                </a:solidFill>
              </a:rPr>
              <a:t>NAT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 CONSOLE EVIDENCE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1920240"/>
          </a:xfrm>
          <a:prstGeom prst="rect">
            <a:avLst/>
          </a:prstGeom>
          <a:solidFill>
            <a:srgbClr val="E8F4FD"/>
          </a:solidFill>
          <a:ln w="19050">
            <a:solidFill>
              <a:srgbClr val="146E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65760" y="758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F3E"/>
                </a:solidFill>
              </a:rPr>
              <a:t>🏠 VPC Console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[ 2.1 ]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206240" cy="1920240"/>
          </a:xfrm>
          <a:prstGeom prst="rect">
            <a:avLst/>
          </a:prstGeom>
          <a:solidFill>
            <a:srgbClr val="E8F4FD"/>
          </a:solidFill>
          <a:ln w="19050">
            <a:solidFill>
              <a:srgbClr val="146EB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758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F3E"/>
                </a:solidFill>
              </a:rPr>
              <a:t>📡 Subnets (Public + Private)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[ 2.1 ]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4114800" cy="2057400"/>
          </a:xfrm>
          <a:prstGeom prst="rect">
            <a:avLst/>
          </a:prstGeom>
          <a:solidFill>
            <a:srgbClr val="E8F4FD"/>
          </a:solidFill>
          <a:ln w="19050">
            <a:solidFill>
              <a:srgbClr val="146EB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6576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F3E"/>
                </a:solidFill>
              </a:rPr>
              <a:t>🗺 Route Tables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[ 2.25 ]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206240" cy="2057400"/>
          </a:xfrm>
          <a:prstGeom prst="rect">
            <a:avLst/>
          </a:prstGeom>
          <a:solidFill>
            <a:srgbClr val="E8F4FD"/>
          </a:solidFill>
          <a:ln w="19050">
            <a:solidFill>
              <a:srgbClr val="146EB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54880" y="2862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32F3E"/>
                </a:solidFill>
              </a:rPr>
              <a:t>🔁 NAT Gateway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</a:rPr>
              <a:t>[ 2.25 ]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BD265A-1335-D69D-7783-FE1E60BA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7558"/>
            <a:ext cx="9144000" cy="4798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BASTION HOST — SECURE SSH ARCHITECTURE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463040" cy="822960"/>
          </a:xfrm>
          <a:prstGeom prst="rect">
            <a:avLst/>
          </a:prstGeom>
          <a:solidFill>
            <a:srgbClr val="1B4332"/>
          </a:solidFill>
          <a:ln w="254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💻 Local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1463040" cy="822960"/>
          </a:xfrm>
          <a:prstGeom prst="rect">
            <a:avLst/>
          </a:prstGeom>
          <a:solidFill>
            <a:srgbClr val="4A1942"/>
          </a:solidFill>
          <a:ln w="2540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 Bastion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(Public Subnet)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1463040" cy="822960"/>
          </a:xfrm>
          <a:prstGeom prst="rect">
            <a:avLst/>
          </a:prstGeom>
          <a:solidFill>
            <a:srgbClr val="1E3A8A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🖥 Private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EC2 Instance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240280"/>
            <a:ext cx="146304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1874520" y="1993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SSH :22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Port 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240280"/>
            <a:ext cx="146304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800600" y="1993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SSH :22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</a:rPr>
              <a:t>Private 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971800"/>
            <a:ext cx="23774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 SSH key: vastraco-key.pem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685800"/>
            <a:ext cx="1143000" cy="658368"/>
          </a:xfrm>
          <a:prstGeom prst="rect">
            <a:avLst/>
          </a:prstGeom>
          <a:solidFill>
            <a:srgbClr val="1A2D40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7040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🔒 Never expose private EC2 to internet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18120" y="960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DC3C7"/>
                </a:solidFill>
              </a:rPr>
              <a:t>Backend services stay in private subnets, unreachable directly from public internet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818120" y="1435608"/>
            <a:ext cx="1143000" cy="658368"/>
          </a:xfrm>
          <a:prstGeom prst="rect">
            <a:avLst/>
          </a:prstGeom>
          <a:solidFill>
            <a:srgbClr val="1A2D40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1453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🛡 Single hardened entry point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18120" y="170992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DC3C7"/>
                </a:solidFill>
              </a:rPr>
              <a:t>Bastion is the ONLY SSH entry. Small attack surface, monitored, key-pair only.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818120" y="2185416"/>
            <a:ext cx="1143000" cy="658368"/>
          </a:xfrm>
          <a:prstGeom prst="rect">
            <a:avLst/>
          </a:prstGeom>
          <a:solidFill>
            <a:srgbClr val="1A2D40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22037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📋 Audit trail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18120" y="245973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DC3C7"/>
                </a:solidFill>
              </a:rPr>
              <a:t>All SSH sessions go through bastion, enabling centralized access logging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818120" y="2935224"/>
            <a:ext cx="1143000" cy="658368"/>
          </a:xfrm>
          <a:prstGeom prst="rect">
            <a:avLst/>
          </a:prstGeom>
          <a:solidFill>
            <a:srgbClr val="1A2D40"/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9535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84FC"/>
                </a:solidFill>
              </a:rPr>
              <a:t>🔐 Principle of least privilege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18120" y="32095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DC3C7"/>
                </a:solidFill>
              </a:rPr>
              <a:t>Security groups allow port 22 only from bastion SG, not from 0.0.0.0/0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BALANCERS — PUBLIC ALB + INTERNAL ALB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280160" cy="777240"/>
          </a:xfrm>
          <a:prstGeom prst="rect">
            <a:avLst/>
          </a:prstGeom>
          <a:solidFill>
            <a:srgbClr val="EBF8FF"/>
          </a:solidFill>
          <a:ln w="2540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6459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🌐 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(Client)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2034540"/>
            <a:ext cx="4572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011680" y="1463040"/>
            <a:ext cx="1645920" cy="1097280"/>
          </a:xfrm>
          <a:prstGeom prst="rect">
            <a:avLst/>
          </a:prstGeom>
          <a:solidFill>
            <a:srgbClr val="DBEAFE"/>
          </a:solidFill>
          <a:ln w="2540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⚖️ Public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ALB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HTTPS:443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3657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023360" y="1645920"/>
            <a:ext cx="1371600" cy="777240"/>
          </a:xfrm>
          <a:prstGeom prst="rect">
            <a:avLst/>
          </a:prstGeom>
          <a:solidFill>
            <a:srgbClr val="DCFCE7"/>
          </a:solidFill>
          <a:ln w="254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🖥 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EC2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2034540"/>
            <a:ext cx="2743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669280" y="1463040"/>
            <a:ext cx="164592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4630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⚖️ Internal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ALB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HTTP:80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011680"/>
            <a:ext cx="2743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589520" y="1645920"/>
            <a:ext cx="1371600" cy="777240"/>
          </a:xfrm>
          <a:prstGeom prst="rect">
            <a:avLst/>
          </a:prstGeom>
          <a:solidFill>
            <a:srgbClr val="F3E8FF"/>
          </a:solidFill>
          <a:ln w="25400">
            <a:solidFill>
              <a:srgbClr val="8E44A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⚙️ Backend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Services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880360" cy="283464"/>
          </a:xfrm>
          <a:prstGeom prst="rect">
            <a:avLst/>
          </a:prstGeom>
          <a:solidFill>
            <a:srgbClr val="232F3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346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Feature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880360" cy="283464"/>
          </a:xfrm>
          <a:prstGeom prst="rect">
            <a:avLst/>
          </a:prstGeom>
          <a:solidFill>
            <a:srgbClr val="232F3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346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Public ALB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34640"/>
            <a:ext cx="2743200" cy="283464"/>
          </a:xfrm>
          <a:prstGeom prst="rect">
            <a:avLst/>
          </a:prstGeom>
          <a:solidFill>
            <a:srgbClr val="232F3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83464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Internal ALB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18104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11810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Listener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118104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11810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HTTPS :443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118104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11810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HTTP :80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401568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01568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Scheme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401568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401568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internet-facing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401568"/>
            <a:ext cx="274320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40156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internal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685032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85032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Subnet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3685032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685032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Public Subnet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3685032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68503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Private Subnet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968496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68496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SSL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3968496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968496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ACM Certificate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968496"/>
            <a:ext cx="274320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96849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None needed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251960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25196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Target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46120" y="4251960"/>
            <a:ext cx="28803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425196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Frontend EC2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251960"/>
            <a:ext cx="2743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425196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Backend Services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535424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53542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Health Check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46120" y="4535424"/>
            <a:ext cx="288036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453542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/health → 200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17920" y="4535424"/>
            <a:ext cx="2743200" cy="283464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3640" y="453542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</a:rPr>
              <a:t>/api/*/health → 200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solidFill>
            <a:srgbClr val="EBF4FF"/>
          </a:solidFill>
          <a:ln w="12700">
            <a:solidFill>
              <a:srgbClr val="146EB4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[ Insert ALB Listener Rules screenshot ]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900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4846320" y="48463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[ Insert Target Group screenshot 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PATH-BASED ROUTING — Internal ALB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200400" cy="594360"/>
          </a:xfrm>
          <a:prstGeom prst="rect">
            <a:avLst/>
          </a:prstGeom>
          <a:solidFill>
            <a:srgbClr val="1E3A8A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⚖️  Internal ALB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api.vastraco.online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764792"/>
            <a:ext cx="45720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931920" y="1463040"/>
            <a:ext cx="1920240" cy="594360"/>
          </a:xfrm>
          <a:prstGeom prst="rect">
            <a:avLst/>
          </a:prstGeom>
          <a:solidFill>
            <a:srgbClr val="1A2D4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/api/auth/*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764792"/>
            <a:ext cx="36576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217920" y="1463040"/>
            <a:ext cx="274320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</a:rPr>
              <a:t>⚙️  user-service :3001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792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Register / Login / JWT tokens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2907792"/>
            <a:ext cx="4572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931920" y="2606040"/>
            <a:ext cx="1920240" cy="594360"/>
          </a:xfrm>
          <a:prstGeom prst="rect">
            <a:avLst/>
          </a:prstGeom>
          <a:solidFill>
            <a:srgbClr val="1A2D40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/api/products/*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907792"/>
            <a:ext cx="3657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217920" y="2606040"/>
            <a:ext cx="274320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⚙️  product-service :3002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935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Product catalog &amp; inventory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0" y="4050792"/>
            <a:ext cx="45720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3931920" y="3749040"/>
            <a:ext cx="1920240" cy="594360"/>
          </a:xfrm>
          <a:prstGeom prst="rect">
            <a:avLst/>
          </a:prstGeom>
          <a:solidFill>
            <a:srgbClr val="1A2D4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4050792"/>
            <a:ext cx="36576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217920" y="3749040"/>
            <a:ext cx="274320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C084F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</a:rPr>
              <a:t>⚙️  order-service :3003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4078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Orders &amp; transactions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4498848"/>
            <a:ext cx="8595360" cy="530352"/>
          </a:xfrm>
          <a:prstGeom prst="rect">
            <a:avLst/>
          </a:prstGeom>
          <a:solidFill>
            <a:srgbClr val="1A3A1A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07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</a:rPr>
              <a:t>🔴 LIVE DEMO ENDPOINTS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https://api.vastraco.online/api/auth/health    </a:t>
            </a: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https://api.vastraco.online/api/products    </a:t>
            </a: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https://api.vastraco.online/api/orders/health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HOST-BASED ROUTING — Route53 + Public ALB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685800"/>
          </a:xfrm>
          <a:prstGeom prst="rect">
            <a:avLst/>
          </a:prstGeom>
          <a:solidFill>
            <a:srgbClr val="EBF4FF"/>
          </a:solidFill>
          <a:ln w="2540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vastraco.online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527048"/>
            <a:ext cx="640080" cy="0"/>
          </a:xfrm>
          <a:prstGeom prst="line">
            <a:avLst/>
          </a:prstGeom>
          <a:noFill/>
          <a:ln w="25400">
            <a:solidFill>
              <a:srgbClr val="146EB4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474720" y="1188720"/>
            <a:ext cx="1645920" cy="685800"/>
          </a:xfrm>
          <a:prstGeom prst="roundRect">
            <a:avLst>
              <a:gd name="adj" fmla="val 9333"/>
            </a:avLst>
          </a:prstGeom>
          <a:solidFill>
            <a:srgbClr val="F3E8FF"/>
          </a:solidFill>
          <a:ln w="19050">
            <a:solidFill>
              <a:srgbClr val="8B2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2FC9"/>
                </a:solidFill>
              </a:rPr>
              <a:t>🔀 Route53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2FC9"/>
                </a:solidFill>
              </a:rPr>
              <a:t>A / CNAME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527048"/>
            <a:ext cx="640080" cy="0"/>
          </a:xfrm>
          <a:prstGeom prst="line">
            <a:avLst/>
          </a:prstGeom>
          <a:noFill/>
          <a:ln w="25400">
            <a:solidFill>
              <a:srgbClr val="146EB4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760720" y="1188720"/>
            <a:ext cx="1828800" cy="685800"/>
          </a:xfrm>
          <a:prstGeom prst="rect">
            <a:avLst/>
          </a:prstGeom>
          <a:solidFill>
            <a:srgbClr val="DBEAFE"/>
          </a:solidFill>
          <a:ln w="1905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⚖️ Public ALB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HTTPS:443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0" y="1527048"/>
            <a:ext cx="594360" cy="0"/>
          </a:xfrm>
          <a:prstGeom prst="line">
            <a:avLst/>
          </a:prstGeom>
          <a:noFill/>
          <a:ln w="25400">
            <a:solidFill>
              <a:srgbClr val="146EB4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183880" y="1188720"/>
            <a:ext cx="777240" cy="685800"/>
          </a:xfrm>
          <a:prstGeom prst="rect">
            <a:avLst/>
          </a:prstGeom>
          <a:solidFill>
            <a:srgbClr val="155E75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1887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92024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ALB DNS → Public Subnet EC2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560320" cy="685800"/>
          </a:xfrm>
          <a:prstGeom prst="rect">
            <a:avLst/>
          </a:prstGeom>
          <a:solidFill>
            <a:srgbClr val="EBF4FF"/>
          </a:solidFill>
          <a:ln w="254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api.vastraco.online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264408"/>
            <a:ext cx="64008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474720" y="2926080"/>
            <a:ext cx="1645920" cy="685800"/>
          </a:xfrm>
          <a:prstGeom prst="roundRect">
            <a:avLst>
              <a:gd name="adj" fmla="val 9333"/>
            </a:avLst>
          </a:prstGeom>
          <a:solidFill>
            <a:srgbClr val="F3E8FF"/>
          </a:solidFill>
          <a:ln w="19050">
            <a:solidFill>
              <a:srgbClr val="8B2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2FC9"/>
                </a:solidFill>
              </a:rPr>
              <a:t>🔀 Route53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2FC9"/>
                </a:solidFill>
              </a:rPr>
              <a:t>A / CNAME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264408"/>
            <a:ext cx="64008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760720" y="2926080"/>
            <a:ext cx="1828800" cy="685800"/>
          </a:xfrm>
          <a:prstGeom prst="rect">
            <a:avLst/>
          </a:prstGeom>
          <a:solidFill>
            <a:srgbClr val="DCFCE7"/>
          </a:solidFill>
          <a:ln w="1905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⚖️ Public ALB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</a:rPr>
              <a:t>HTTPS:443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3264408"/>
            <a:ext cx="59436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183880" y="2926080"/>
            <a:ext cx="777240" cy="685800"/>
          </a:xfrm>
          <a:prstGeom prst="rect">
            <a:avLst/>
          </a:prstGeom>
          <a:solidFill>
            <a:srgbClr val="14532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9260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⚙️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Backend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ALB DNS → Internal ALB → Services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EBF4FF"/>
          </a:solidFill>
          <a:ln w="19050">
            <a:solidFill>
              <a:srgbClr val="146E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EB4"/>
                </a:solidFill>
              </a:rPr>
              <a:t>🔴 LIVE DEMO LINKS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https://vastraco.online</a:t>
            </a: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https://api.vastraco.online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RDS — PostgreSQL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42316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</a:rPr>
              <a:t>⚙️ user-service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81328" y="1307592"/>
            <a:ext cx="0" cy="41148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2240280" cy="777240"/>
          </a:xfrm>
          <a:prstGeom prst="ellipse">
            <a:avLst/>
          </a:prstGeom>
          <a:solidFill>
            <a:srgbClr val="1E3245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190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users_db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C3C7"/>
                </a:solidFill>
              </a:rPr>
              <a:t>Users, auth tokens, sessions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713232"/>
            <a:ext cx="242316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7132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⚙️ product-service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44568" y="1307592"/>
            <a:ext cx="0" cy="41148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429000" y="1719072"/>
            <a:ext cx="2240280" cy="777240"/>
          </a:xfrm>
          <a:prstGeom prst="ellipse">
            <a:avLst/>
          </a:prstGeom>
          <a:solidFill>
            <a:srgbClr val="1E3245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7190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products_db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C3C7"/>
                </a:solidFill>
              </a:rPr>
              <a:t>Products, categories, inventory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713232"/>
            <a:ext cx="2423160" cy="594360"/>
          </a:xfrm>
          <a:prstGeom prst="rect">
            <a:avLst/>
          </a:prstGeom>
          <a:solidFill>
            <a:srgbClr val="14532D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7132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</a:rPr>
              <a:t>⚙️ order-service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07808" y="1307592"/>
            <a:ext cx="0" cy="41148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492240" y="1719072"/>
            <a:ext cx="2240280" cy="777240"/>
          </a:xfrm>
          <a:prstGeom prst="ellipse">
            <a:avLst/>
          </a:prstGeom>
          <a:solidFill>
            <a:srgbClr val="1E3245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71907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 orders_db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C3C7"/>
                </a:solidFill>
              </a:rPr>
              <a:t>Orders, transactions, 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🔒 Private Subnet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3467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RDS lives in isolated private subnet. Zero public internet access.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9923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🌍 Multi-AZ Standby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3467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Synchronous replication to standby in another AZ for instant failover.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99923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💾 Automated Backups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467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Daily snapshots with point-in-time recovery up to 35 days.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95935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🔐 Encryption at Rest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306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All data encrypted using AWS KMS. Storage-level encryption enabled.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95935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📊 Managed 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306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AWS handles patching, maintenance, hardware failures automatically.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959352"/>
            <a:ext cx="2743200" cy="822960"/>
          </a:xfrm>
          <a:prstGeom prst="rect">
            <a:avLst/>
          </a:prstGeom>
          <a:solidFill>
            <a:srgbClr val="1A2D40"/>
          </a:solidFill>
          <a:ln w="10160">
            <a:solidFill>
              <a:srgbClr val="38BD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1792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🚀 Read Replicas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3068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</a:rPr>
              <a:t>Scale read traffic with PostgreSQL read replicas when needed.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E4B00"/>
          </a:solidFill>
          <a:ln w="12700">
            <a:solidFill>
              <a:srgbClr val="BE4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SSL TERMINATION USING AWS ACM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1188720" cy="960120"/>
          </a:xfrm>
          <a:prstGeom prst="rect">
            <a:avLst/>
          </a:prstGeom>
          <a:solidFill>
            <a:srgbClr val="1E3A8A"/>
          </a:solidFill>
          <a:ln w="19050">
            <a:solidFill>
              <a:srgbClr val="60A5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🌐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Browser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0A5FA"/>
                </a:solidFill>
              </a:rPr>
              <a:t>HTTPS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0A5FA"/>
                </a:solidFill>
              </a:rPr>
              <a:t>Request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71600" y="1161288"/>
            <a:ext cx="2286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1389888" y="103327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685800"/>
            <a:ext cx="1188720" cy="960120"/>
          </a:xfrm>
          <a:prstGeom prst="rect">
            <a:avLst/>
          </a:prstGeom>
          <a:solidFill>
            <a:srgbClr val="4A1942"/>
          </a:solidFill>
          <a:ln w="19050">
            <a:solidFill>
              <a:srgbClr val="C084F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0020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Route53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84FC"/>
                </a:solidFill>
              </a:rPr>
              <a:t>DNS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084FC"/>
                </a:solidFill>
              </a:rPr>
              <a:t>Resolve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88920" y="1161288"/>
            <a:ext cx="2286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2807208" y="103327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685800"/>
            <a:ext cx="1188720" cy="960120"/>
          </a:xfrm>
          <a:prstGeom prst="rect">
            <a:avLst/>
          </a:prstGeom>
          <a:solidFill>
            <a:srgbClr val="7C2D12"/>
          </a:solidFill>
          <a:ln w="1905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🔒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ACM Cert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9900"/>
                </a:solidFill>
              </a:rPr>
              <a:t>*.vastraco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9900"/>
                </a:solidFill>
              </a:rPr>
              <a:t>.online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06240" y="1161288"/>
            <a:ext cx="54864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4224528" y="103327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685800"/>
            <a:ext cx="1188720" cy="96012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⚖️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Public ALB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HTTPS:443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2A5F5"/>
                </a:solidFill>
              </a:rPr>
              <a:t>TLS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2A5F5"/>
                </a:solidFill>
              </a:rPr>
              <a:t>Terminate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0" y="1161288"/>
            <a:ext cx="54864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961888" y="103327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685800"/>
            <a:ext cx="1188720" cy="960120"/>
          </a:xfrm>
          <a:prstGeom prst="rect">
            <a:avLst/>
          </a:prstGeom>
          <a:solidFill>
            <a:srgbClr val="14532D"/>
          </a:solidFill>
          <a:ln w="19050">
            <a:solidFill>
              <a:srgbClr val="4ADE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EC2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DE80"/>
                </a:solidFill>
              </a:rPr>
              <a:t>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DE80"/>
                </a:solidFill>
              </a:rPr>
              <a:t>:80 internal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680960" y="1161288"/>
            <a:ext cx="27432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7699248" y="103327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55280" y="685800"/>
            <a:ext cx="1188720" cy="960120"/>
          </a:xfrm>
          <a:prstGeom prst="rect">
            <a:avLst/>
          </a:prstGeom>
          <a:solidFill>
            <a:srgbClr val="1A1A4E"/>
          </a:solidFill>
          <a:ln w="19050">
            <a:solidFill>
              <a:srgbClr val="818C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55280" y="6858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⚙️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3075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18CF8"/>
                </a:solidFill>
              </a:rPr>
              <a:t>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18CF8"/>
                </a:solidFill>
              </a:rPr>
              <a:t>:3001+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4592" y="182880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182880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🔐 What is SSL/TLS?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7744" y="226771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Cryptographic protocol that encrypts data in transit. TLS 1.2/1.3 used. Creates encrypted tunnel between client and server.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04872" y="182880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04872" y="182880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8024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🌐 What is HTTPS?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78024" y="226771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HTTP over TLS. Port 443. Browser shows 🔒 padlock. Certificate validates server identity. Prevents MITM attacks.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45152" y="182880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182880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📜 What is ACM?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18304" y="226771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AWS Certificate Manager. FREE SSL certificates. Automatic renewal. Deep integration with ALB, CloudFront.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85432" y="182880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85432" y="182880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⚖️ SSL Termination at ALB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58584" y="226771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ALB decrypts HTTPS at the edge. Internal traffic uses HTTP. Offloads crypto from backend. Centralized certificate management.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4592" y="329184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64592" y="329184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✳️ Wildcard Certificate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37744" y="373075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*.vastraco.online covers ALL subdomains: vastraco.online, api.vastraco.online, admin.vastraco.online etc.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04872" y="329184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04872" y="329184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7802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🔀 DNS Validation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478024" y="373075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ACM adds CNAME record in Route53 to prove domain ownership. Automatic validation. No email needed.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45152" y="329184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45152" y="329184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🛡 Browser Trust Flow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18304" y="373075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Browser checks cert → CA validates → certificate chain verified → padlock shown → encrypted channel established.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85432" y="3291840"/>
            <a:ext cx="2103120" cy="1325880"/>
          </a:xfrm>
          <a:prstGeom prst="rect">
            <a:avLst/>
          </a:prstGeom>
          <a:solidFill>
            <a:srgbClr val="142332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85432" y="3291840"/>
            <a:ext cx="21031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5858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900"/>
                </a:solidFill>
              </a:rPr>
              <a:t>🤝 TLS Handshake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58584" y="373075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</a:rPr>
              <a:t>Client hello → Server sends cert → Client verifies CA → Session keys exchanged → Encrypted communication begins.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ROUTE53 &amp; DNS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200400" cy="4251960"/>
          </a:xfrm>
          <a:prstGeom prst="rect">
            <a:avLst/>
          </a:prstGeom>
          <a:solidFill>
            <a:srgbClr val="1A2D40"/>
          </a:solidFill>
          <a:ln w="19050">
            <a:solidFill>
              <a:srgbClr val="8B2F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13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</a:rPr>
              <a:t>🔀 Route53 Hosted Zone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084FC"/>
                </a:solidFill>
              </a:rPr>
              <a:t>vastraco.online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3054096" cy="548640"/>
          </a:xfrm>
          <a:prstGeom prst="rect">
            <a:avLst/>
          </a:prstGeom>
          <a:solidFill>
            <a:srgbClr val="0D1B2A"/>
          </a:solidFill>
          <a:ln w="10160">
            <a:solidFill>
              <a:srgbClr val="146E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441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(Alias)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344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vastraco.online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C3C7"/>
                </a:solidFill>
              </a:rPr>
              <a:t>→ Public ALB DNS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965960"/>
            <a:ext cx="3054096" cy="548640"/>
          </a:xfrm>
          <a:prstGeom prst="rect">
            <a:avLst/>
          </a:prstGeom>
          <a:solidFill>
            <a:srgbClr val="0D1B2A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842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(Alias)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api.vastraco.online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" y="2194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C3C7"/>
                </a:solidFill>
              </a:rPr>
              <a:t>→ Public ALB DNS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2606040"/>
            <a:ext cx="3054096" cy="548640"/>
          </a:xfrm>
          <a:prstGeom prst="rect">
            <a:avLst/>
          </a:prstGeom>
          <a:solidFill>
            <a:srgbClr val="0D1B2A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6243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2624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C3C7"/>
                </a:solidFill>
              </a:rPr>
              <a:t>ns-XXX.awsdns-XX.com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" y="3246120"/>
            <a:ext cx="3054096" cy="548640"/>
          </a:xfrm>
          <a:prstGeom prst="rect">
            <a:avLst/>
          </a:prstGeom>
          <a:solidFill>
            <a:srgbClr val="0D1B2A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2644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3264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3192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C3C7"/>
                </a:solidFill>
              </a:rPr>
              <a:t>Hosted Zone Authority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3886200"/>
            <a:ext cx="3054096" cy="548640"/>
          </a:xfrm>
          <a:prstGeom prst="rect">
            <a:avLst/>
          </a:prstGeom>
          <a:solidFill>
            <a:srgbClr val="0D1B2A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9044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" y="3904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_acm-validation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3192" y="4114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DC3C7"/>
                </a:solidFill>
              </a:rPr>
              <a:t>→ ACM DNS validate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49040" y="685800"/>
            <a:ext cx="5166360" cy="658368"/>
          </a:xfrm>
          <a:prstGeom prst="rect">
            <a:avLst/>
          </a:prstGeom>
          <a:solidFill>
            <a:srgbClr val="1E3A8A"/>
          </a:solidFill>
          <a:ln w="19050">
            <a:solidFill>
              <a:srgbClr val="60A5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0" y="68580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🌐 Browser types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vastraco.online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36792" y="1344168"/>
            <a:ext cx="0" cy="18288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749040" y="1527048"/>
            <a:ext cx="5166360" cy="658368"/>
          </a:xfrm>
          <a:prstGeom prst="rect">
            <a:avLst/>
          </a:prstGeom>
          <a:solidFill>
            <a:srgbClr val="4A1942"/>
          </a:solidFill>
          <a:ln w="19050">
            <a:solidFill>
              <a:srgbClr val="C084F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931920" y="152704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2. 🔀 Route53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DNS Lookup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36792" y="2185416"/>
            <a:ext cx="0" cy="18288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3749040" y="2368296"/>
            <a:ext cx="5166360" cy="658368"/>
          </a:xfrm>
          <a:prstGeom prst="rect">
            <a:avLst/>
          </a:prstGeom>
          <a:solidFill>
            <a:srgbClr val="7C2D12"/>
          </a:solidFill>
          <a:ln w="1905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31920" y="236829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3. 📍 ALB DNS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Resolved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36792" y="3026664"/>
            <a:ext cx="0" cy="18288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749040" y="3209544"/>
            <a:ext cx="5166360" cy="658368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931920" y="320954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4. ⚖️ Public ALB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HTTPS:443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36792" y="3867912"/>
            <a:ext cx="0" cy="18288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3749040" y="4050792"/>
            <a:ext cx="5166360" cy="658368"/>
          </a:xfrm>
          <a:prstGeom prst="rect">
            <a:avLst/>
          </a:prstGeom>
          <a:solidFill>
            <a:srgbClr val="14532D"/>
          </a:solidFill>
          <a:ln w="19050">
            <a:solidFill>
              <a:srgbClr val="4ADE8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31920" y="405079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5. 🖥 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EC2 Response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49040" y="4754880"/>
            <a:ext cx="5166360" cy="256032"/>
          </a:xfrm>
          <a:prstGeom prst="rect">
            <a:avLst/>
          </a:prstGeom>
          <a:solidFill>
            <a:srgbClr val="1A2D40"/>
          </a:solidFill>
          <a:ln w="12700">
            <a:solidFill>
              <a:srgbClr val="8B2FC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749040" y="475488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9AA"/>
                </a:solidFill>
              </a:rPr>
              <a:t>[ Insert Route53 Hosted Zone screenshot 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IMPLEMENTATION — Defense in Depth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2029968" cy="4251960"/>
          </a:xfrm>
          <a:prstGeom prst="rect">
            <a:avLst/>
          </a:prstGeom>
          <a:solidFill>
            <a:srgbClr val="FFF5F5"/>
          </a:solidFill>
          <a:ln w="2540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85800"/>
            <a:ext cx="2029968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1: Network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" y="1261872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131673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VPC Isolation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2066544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" y="212140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121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Public/Private Subnets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" y="2871216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" y="292608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Internet Gateway controlled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" y="3675888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74C3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373075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No direct private access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685800"/>
            <a:ext cx="2029968" cy="4251960"/>
          </a:xfrm>
          <a:prstGeom prst="rect">
            <a:avLst/>
          </a:prstGeom>
          <a:solidFill>
            <a:srgbClr val="FFF8F0"/>
          </a:solidFill>
          <a:ln w="2540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41448" y="685800"/>
            <a:ext cx="2029968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685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2: Transport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51176" y="1261872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1316736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HTTPS / TLS 1.2+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51176" y="2066544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2121408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2121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ACM SSL Certificate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51176" y="2871216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06040" y="2926080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3784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SSL termination at ALB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51176" y="3675888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99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06040" y="3730752"/>
            <a:ext cx="201168" cy="20116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3784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Encrypted in transit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54296" y="685800"/>
            <a:ext cx="2029968" cy="4251960"/>
          </a:xfrm>
          <a:prstGeom prst="rect">
            <a:avLst/>
          </a:prstGeom>
          <a:solidFill>
            <a:srgbClr val="EBF4FF"/>
          </a:solidFill>
          <a:ln w="2540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54296" y="685800"/>
            <a:ext cx="2029968" cy="45720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685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3: Access Control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64024" y="1261872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18888" y="1316736"/>
            <a:ext cx="201168" cy="20116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Security Groups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64024" y="2066544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2121408"/>
            <a:ext cx="201168" cy="20116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56632" y="2121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Bastion-only SSH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64024" y="2871216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18888" y="2926080"/>
            <a:ext cx="201168" cy="20116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Least privilege SGs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64024" y="3675888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18888" y="3730752"/>
            <a:ext cx="201168" cy="201168"/>
          </a:xfrm>
          <a:prstGeom prst="ellipse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56632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Port 22 restricted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67144" y="685800"/>
            <a:ext cx="2029968" cy="4251960"/>
          </a:xfrm>
          <a:prstGeom prst="rect">
            <a:avLst/>
          </a:prstGeom>
          <a:solidFill>
            <a:srgbClr val="F0FFF4"/>
          </a:solidFill>
          <a:ln w="2540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67144" y="685800"/>
            <a:ext cx="2029968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6858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4: Data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76872" y="1261872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031736" y="131673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69480" y="13167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RDS Private Subnet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76872" y="2066544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031736" y="21214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21214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Encryption at rest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76872" y="2871216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031736" y="292608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6948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No public endpoint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76872" y="3675888"/>
            <a:ext cx="181051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27AE6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031736" y="373075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480" y="37307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KMS key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AVAILABILITY ARCHITECTURE — Multi-AZ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3931920" cy="4206240"/>
          </a:xfrm>
          <a:prstGeom prst="rect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FF990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🏙 Availability Zone: ap-south-1a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83480" y="658368"/>
            <a:ext cx="3931920" cy="4206240"/>
          </a:xfrm>
          <a:prstGeom prst="rect">
            <a:avLst/>
          </a:prstGeom>
          <a:solidFill>
            <a:srgbClr val="FFFFFF">
              <a:alpha val="3000"/>
            </a:srgbClr>
          </a:solidFill>
          <a:ln w="19050">
            <a:solidFill>
              <a:srgbClr val="146EB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74920" y="685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9EDB"/>
                </a:solidFill>
              </a:rPr>
              <a:t>🏙 Availability Zone: ap-south-1b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5661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Public ALB Node (Primary)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005840"/>
            <a:ext cx="35661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005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Public ALB Node (Standby)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1298448"/>
            <a:ext cx="11887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3931920" y="1298448"/>
            <a:ext cx="59436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120640" y="1298448"/>
            <a:ext cx="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65760" y="1737360"/>
            <a:ext cx="3566160" cy="594360"/>
          </a:xfrm>
          <a:prstGeom prst="rect">
            <a:avLst/>
          </a:prstGeom>
          <a:solidFill>
            <a:srgbClr val="155E7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EC2 (Primary)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3566160" cy="594360"/>
          </a:xfrm>
          <a:prstGeom prst="rect">
            <a:avLst/>
          </a:prstGeom>
          <a:solidFill>
            <a:srgbClr val="155E7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37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EC2 (Standby)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2029968"/>
            <a:ext cx="118872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3931920" y="2029968"/>
            <a:ext cx="59436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120640" y="2029968"/>
            <a:ext cx="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65760" y="2468880"/>
            <a:ext cx="356616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ALB Node (Primary)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468880"/>
            <a:ext cx="356616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68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Internal ALB Node (Standby)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2761488"/>
            <a:ext cx="118872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3931920" y="2761488"/>
            <a:ext cx="59436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120640" y="2761488"/>
            <a:ext cx="0" cy="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365760" y="3200400"/>
            <a:ext cx="3566160" cy="594360"/>
          </a:xfrm>
          <a:prstGeom prst="rect">
            <a:avLst/>
          </a:prstGeom>
          <a:solidFill>
            <a:srgbClr val="14532D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00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EC2 (Primary)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3200400"/>
            <a:ext cx="3566160" cy="594360"/>
          </a:xfrm>
          <a:prstGeom prst="rect">
            <a:avLst/>
          </a:prstGeom>
          <a:solidFill>
            <a:srgbClr val="14532D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2004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EC2 (Standby)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3493008"/>
            <a:ext cx="118872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3931920" y="3493008"/>
            <a:ext cx="59436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5120640" y="3493008"/>
            <a:ext cx="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65760" y="3931920"/>
            <a:ext cx="3566160" cy="594360"/>
          </a:xfrm>
          <a:prstGeom prst="rect">
            <a:avLst/>
          </a:prstGeom>
          <a:solidFill>
            <a:srgbClr val="1E324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RDS Primary (Primary)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3931920"/>
            <a:ext cx="3566160" cy="594360"/>
          </a:xfrm>
          <a:prstGeom prst="rect">
            <a:avLst/>
          </a:prstGeom>
          <a:solidFill>
            <a:srgbClr val="1E324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RDS Primary (Standby)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31920" y="4224528"/>
            <a:ext cx="118872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3931920" y="4224528"/>
            <a:ext cx="5943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5120640" y="4224528"/>
            <a:ext cx="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3383280" y="4663440"/>
            <a:ext cx="2377440" cy="320040"/>
          </a:xfrm>
          <a:prstGeom prst="rect">
            <a:avLst/>
          </a:prstGeom>
          <a:solidFill>
            <a:srgbClr val="1A3A1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</a:rPr>
              <a:t>⚡ Automatic failover &lt; 60 seconds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RESULTS — Production-Grade Deployment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20116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50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HTTPS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Fully Encrypted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TLS 1.2/1.3 via ACM wildcard cert on Public ALB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713232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146E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13232"/>
            <a:ext cx="2011680" cy="64008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50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6EB4"/>
                </a:solidFill>
              </a:rPr>
              <a:t>Route53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DNS Managed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2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vastraco.online &amp; api.vastraco.online live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45152" y="713232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713232"/>
            <a:ext cx="20116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850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36592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</a:rPr>
              <a:t>ALB x2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36592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Balanced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6592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Public ALB + Internal ALB routing all traffic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39712" y="713232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713232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850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31152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RDS x3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31152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Databases Live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users_db / products_db / orders_db on PostgreSQL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2798064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C084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798064"/>
            <a:ext cx="201168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935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747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4FC"/>
                </a:solidFill>
              </a:rPr>
              <a:t>3 Services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7472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Path Routing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/api/auth → /api/products → /api/orders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2798064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50592" y="2798064"/>
            <a:ext cx="201168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0592" y="2935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54203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</a:rPr>
              <a:t>Multi-AZ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542032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Availability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42032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ap-south-1a + 1b failover in &lt; 60 seconds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5152" y="2798064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FF99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2798064"/>
            <a:ext cx="201168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2935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73659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900"/>
                </a:solidFill>
              </a:rPr>
              <a:t>Bastion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36592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 SSH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Private EC2 accessible only via bastion host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39712" y="2798064"/>
            <a:ext cx="2011680" cy="1874520"/>
          </a:xfrm>
          <a:prstGeom prst="rect">
            <a:avLst/>
          </a:prstGeom>
          <a:solidFill>
            <a:srgbClr val="1A2744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39712" y="2798064"/>
            <a:ext cx="20116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39712" y="29352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931152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Private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31152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 Public DB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31152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RDS in isolated private subnet, no internet exposure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0" y="4809744"/>
            <a:ext cx="9144000" cy="3383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09744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VPC: vpc-00982eb886dd14616  |  vastraco.online  |  ap-south-1  |  AWS Production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— What Was Achieved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🏗 3-Tier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124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Complete separation of presentation, application, and data tiers for clean, scalable design.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76479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6479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🔒 Production-Grade SSL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ACM wildcard certificate with automated DNS validation, TLS termination at ALB edge.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81635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81635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🔀 Smart Routing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227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Host-based routing for domains + path-based routing for microservices via two ALBs.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86791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86791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🌍 High Availability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4279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Multi-AZ deployment across ap-south-1a and 1b with automatic RDS and EC2 failover.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28032" y="71323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71323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🛡 Defense in Depth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624" y="1124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VPC isolation + private subnets + security groups + bastion host + HTTPS encryption.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28032" y="176479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76479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🗄 Managed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2176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Three isolated PostgreSQL databases on RDS with encryption, backups, and Multi-AZ.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81635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28032" y="281635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🔐 Least Privilege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92624" y="3227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Each layer can only communicate with the next — zero unnecessary exposure.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3867912"/>
            <a:ext cx="41605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6E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3867912"/>
            <a:ext cx="64008" cy="9144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2F3E"/>
                </a:solidFill>
              </a:rPr>
              <a:t>⚡ Cloud Native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92624" y="4279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</a:rPr>
              <a:t>Leverages AWS Route53, ACM, ALB, RDS, EC2, VPC — all managed AWS services.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EBF4FF"/>
          </a:solidFill>
          <a:ln w="10160">
            <a:solidFill>
              <a:srgbClr val="146E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with: Amazon EC2 · RDS PostgreSQL · ALB · Route53 · ACM · VPC · NAT Gateway · Security Groups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692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13385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70078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267712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9936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834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01568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68496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35424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731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kern="0" spc="60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23" name="Text 21"/>
          <p:cNvSpPr/>
          <p:nvPr/>
        </p:nvSpPr>
        <p:spPr>
          <a:xfrm>
            <a:off x="1371600" y="21488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VastraCo — Production Grade AWS Architecture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86000" y="2761488"/>
            <a:ext cx="45720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26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vastraco.online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3101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api.vastraco.online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6941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vpc-00982eb886dd14616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Route53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4592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ACM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ALB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RDS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21208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EC2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VPC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89520" y="4617720"/>
            <a:ext cx="1005840" cy="292608"/>
          </a:xfrm>
          <a:prstGeom prst="roundRect">
            <a:avLst/>
          </a:prstGeom>
          <a:solidFill>
            <a:srgbClr val="1A2744"/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617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900"/>
                </a:solidFill>
              </a:rPr>
              <a:t>NAT GW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1746</Words>
  <Application>Microsoft Office PowerPoint</Application>
  <PresentationFormat>On-screen Show (16:9)</PresentationFormat>
  <Paragraphs>434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VastraCo – Production Grade 3-Tier E-Commerce Architecture on AWS</dc:title>
  <dc:subject>PptxGenJS Presentation</dc:subject>
  <dc:creator>PptxGenJS</dc:creator>
  <cp:lastModifiedBy>Harshitha S</cp:lastModifiedBy>
  <cp:revision>5</cp:revision>
  <dcterms:created xsi:type="dcterms:W3CDTF">2026-05-26T06:22:20Z</dcterms:created>
  <dcterms:modified xsi:type="dcterms:W3CDTF">2026-06-24T07:52:14Z</dcterms:modified>
</cp:coreProperties>
</file>